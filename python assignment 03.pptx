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281" r:id="rId8"/>
    <p:sldId id="314" r:id="rId9"/>
    <p:sldId id="317" r:id="rId10"/>
    <p:sldId id="318" r:id="rId11"/>
    <p:sldId id="319" r:id="rId12"/>
    <p:sldId id="320" r:id="rId13"/>
    <p:sldId id="321" r:id="rId14"/>
    <p:sldId id="322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 snapToObjects="1">
      <p:cViewPr varScale="1">
        <p:scale>
          <a:sx n="91" d="100"/>
          <a:sy n="91" d="100"/>
        </p:scale>
        <p:origin x="322" y="5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Basic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E87CDFA-B23A-A27E-B8D8-7845A4F77126}"/>
              </a:ext>
            </a:extLst>
          </p:cNvPr>
          <p:cNvSpPr/>
          <p:nvPr/>
        </p:nvSpPr>
        <p:spPr>
          <a:xfrm>
            <a:off x="2899789" y="3229761"/>
            <a:ext cx="6912529" cy="36282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NAME=KESHAV KUMAR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                 ROLL.NO=21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                 DIVISION=4CE_A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        SUB=PROGRAMMING IN PYTHON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         ASSIGNMENT =3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</a:rPr>
              <a:t>NUMERICAL COMPUTING IN PYTHON;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IN" sz="2900" b="1" dirty="0"/>
              <a:t>🔢 Key Libraries for Numerical Computing in Python</a:t>
            </a:r>
          </a:p>
          <a:p>
            <a:pPr>
              <a:buNone/>
            </a:pPr>
            <a:r>
              <a:rPr lang="en-IN" sz="2900" b="1" dirty="0"/>
              <a:t>1. NumPy (Numerical Python)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900" b="1" dirty="0"/>
              <a:t>Core library</a:t>
            </a:r>
            <a:r>
              <a:rPr lang="en-IN" sz="2900" dirty="0"/>
              <a:t> for array computing.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900" dirty="0"/>
              <a:t>Supports </a:t>
            </a:r>
            <a:r>
              <a:rPr lang="en-IN" sz="2900" b="1" dirty="0"/>
              <a:t>multi-dimensional arrays</a:t>
            </a:r>
            <a:r>
              <a:rPr lang="en-IN" sz="2900" dirty="0"/>
              <a:t>, </a:t>
            </a:r>
            <a:r>
              <a:rPr lang="en-IN" sz="2900" b="1" dirty="0"/>
              <a:t>linear algebra</a:t>
            </a:r>
            <a:r>
              <a:rPr lang="en-IN" sz="2900" dirty="0"/>
              <a:t>, </a:t>
            </a:r>
            <a:r>
              <a:rPr lang="en-IN" sz="2900" b="1" dirty="0"/>
              <a:t>Fourier transforms</a:t>
            </a:r>
            <a:r>
              <a:rPr lang="en-IN" sz="2900" dirty="0"/>
              <a:t>, and </a:t>
            </a:r>
            <a:r>
              <a:rPr lang="en-IN" sz="2900" b="1" dirty="0"/>
              <a:t>random number capabilities</a:t>
            </a:r>
            <a:r>
              <a:rPr lang="en-IN" sz="29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a = </a:t>
            </a:r>
            <a:r>
              <a:rPr lang="en-US" sz="2900" dirty="0" err="1"/>
              <a:t>np.array</a:t>
            </a:r>
            <a:r>
              <a:rPr lang="en-US" sz="2900" dirty="0"/>
              <a:t>([[1, 2], [3, 4]])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b = </a:t>
            </a:r>
            <a:r>
              <a:rPr lang="en-US" sz="2900" dirty="0" err="1"/>
              <a:t>np.array</a:t>
            </a:r>
            <a:r>
              <a:rPr lang="en-US" sz="2900" dirty="0"/>
              <a:t>([[2, 0], [1, 3]])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import </a:t>
            </a:r>
            <a:r>
              <a:rPr lang="en-US" sz="2900" dirty="0" err="1"/>
              <a:t>numpy</a:t>
            </a:r>
            <a:r>
              <a:rPr lang="en-US" sz="2900" dirty="0"/>
              <a:t> as np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# Matrix multiplication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result = np.dot(a, b)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9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560" y="402672"/>
            <a:ext cx="7284440" cy="5516847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PANDAS-DATA MANIPULATION IN PYTHON:-</a:t>
            </a:r>
            <a:br>
              <a:rPr lang="en-US" sz="2400" dirty="0"/>
            </a:br>
            <a:r>
              <a:rPr lang="en-US" sz="2000" b="1" dirty="0"/>
              <a:t>Pandas</a:t>
            </a:r>
            <a:br>
              <a:rPr lang="en-US" sz="2000" b="1" dirty="0"/>
            </a:br>
            <a:r>
              <a:rPr lang="en-US" sz="2000" dirty="0"/>
              <a:t>Great for </a:t>
            </a:r>
            <a:r>
              <a:rPr lang="en-US" sz="2000" b="1" dirty="0"/>
              <a:t>data manipulation</a:t>
            </a:r>
            <a:r>
              <a:rPr lang="en-US" sz="2000" dirty="0"/>
              <a:t> and </a:t>
            </a:r>
            <a:r>
              <a:rPr lang="en-US" sz="2000" b="1" dirty="0"/>
              <a:t>analysis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Built on NumPy, optimized for working with </a:t>
            </a:r>
            <a:r>
              <a:rPr lang="en-US" sz="2000" b="1" dirty="0"/>
              <a:t>tabular data</a:t>
            </a:r>
            <a:r>
              <a:rPr lang="en-US" sz="2000" dirty="0"/>
              <a:t> (like spreadsheets or SQL tables).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import pandas as pd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 err="1"/>
              <a:t>df</a:t>
            </a:r>
            <a:r>
              <a:rPr lang="en-US" sz="2000" dirty="0"/>
              <a:t> = </a:t>
            </a:r>
            <a:r>
              <a:rPr lang="en-US" sz="2000" dirty="0" err="1"/>
              <a:t>pd.DataFrame</a:t>
            </a:r>
            <a:r>
              <a:rPr lang="en-US" sz="2000" dirty="0"/>
              <a:t>({'A': [1, 2, 3], 'B': [4, 5, 6]})</a:t>
            </a:r>
            <a:br>
              <a:rPr lang="en-US" sz="2000" dirty="0"/>
            </a:br>
            <a:r>
              <a:rPr lang="en-US" sz="2000" dirty="0" err="1"/>
              <a:t>mean_A</a:t>
            </a:r>
            <a:r>
              <a:rPr lang="en-US" sz="2000" dirty="0"/>
              <a:t> = </a:t>
            </a:r>
            <a:r>
              <a:rPr lang="en-US" sz="2000" dirty="0" err="1"/>
              <a:t>df</a:t>
            </a:r>
            <a:r>
              <a:rPr lang="en-US" sz="2000" dirty="0"/>
              <a:t>['A'].mean()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39362"/>
            <a:ext cx="5259554" cy="2495028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Matplotlib &amp; Seaborn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429001"/>
            <a:ext cx="5259554" cy="3265414"/>
          </a:xfrm>
        </p:spPr>
        <p:txBody>
          <a:bodyPr>
            <a:normAutofit fontScale="55000" lnSpcReduction="20000"/>
          </a:bodyPr>
          <a:lstStyle/>
          <a:p>
            <a:r>
              <a:rPr lang="en-US" sz="3600" b="1" dirty="0"/>
              <a:t>.</a:t>
            </a:r>
            <a:r>
              <a:rPr lang="en-US" sz="3600" dirty="0"/>
              <a:t>For </a:t>
            </a:r>
            <a:r>
              <a:rPr lang="en-US" sz="3600" b="1" dirty="0"/>
              <a:t>visualizing numerical data</a:t>
            </a:r>
            <a:r>
              <a:rPr lang="en-US" sz="3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Seaborn is built on Matplotlib but is more </a:t>
            </a:r>
            <a:r>
              <a:rPr lang="en-US" sz="3600" b="1" dirty="0"/>
              <a:t>statistically-oriented</a:t>
            </a:r>
            <a:r>
              <a:rPr lang="en-US" sz="3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EAMPLE;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import </a:t>
            </a:r>
            <a:r>
              <a:rPr lang="en-US" sz="3600" dirty="0" err="1"/>
              <a:t>matplotlib.pyplot</a:t>
            </a:r>
            <a:r>
              <a:rPr lang="en-US" sz="3600" dirty="0"/>
              <a:t> as </a:t>
            </a:r>
            <a:r>
              <a:rPr lang="en-US" sz="3600" dirty="0" err="1"/>
              <a:t>plt</a:t>
            </a: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x = </a:t>
            </a:r>
            <a:r>
              <a:rPr lang="en-US" sz="3600" dirty="0" err="1"/>
              <a:t>np.linspace</a:t>
            </a:r>
            <a:r>
              <a:rPr lang="en-US" sz="3600" dirty="0"/>
              <a:t>(0, 10, 100)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y = </a:t>
            </a:r>
            <a:r>
              <a:rPr lang="en-US" sz="3600" dirty="0" err="1"/>
              <a:t>np.sin</a:t>
            </a:r>
            <a:r>
              <a:rPr lang="en-US" sz="3600" dirty="0"/>
              <a:t>(x)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 err="1"/>
              <a:t>plt.plot</a:t>
            </a:r>
            <a:r>
              <a:rPr lang="en-US" sz="3600" dirty="0"/>
              <a:t>(x, 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 err="1"/>
              <a:t>plt.title</a:t>
            </a:r>
            <a:r>
              <a:rPr lang="en-US" sz="3600" dirty="0"/>
              <a:t>("Sine Wave")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 err="1"/>
              <a:t>plt.show</a:t>
            </a:r>
            <a:r>
              <a:rPr lang="en-US" sz="3600" dirty="0"/>
              <a:t>()</a:t>
            </a:r>
          </a:p>
          <a:p>
            <a:endParaRPr lang="en-US" dirty="0"/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7717" y="822121"/>
            <a:ext cx="6862195" cy="110734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SCIKIT-LEARN-MACHINE LEARNING;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B5E4DB2-55EA-9DC0-0308-05DCE1B1A11F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4364038" y="2256439"/>
            <a:ext cx="5513207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(also written 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sklearn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library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It makes it super easy to apply machine learning algorithms to your data without having to build everything from scratch.</a:t>
            </a:r>
          </a:p>
          <a:p>
            <a:pPr>
              <a:buNone/>
            </a:pPr>
            <a:r>
              <a:rPr lang="en-IN" sz="1600" b="1" dirty="0"/>
              <a:t>⚙️ What Can It Do?</a:t>
            </a:r>
          </a:p>
          <a:p>
            <a:pPr>
              <a:buNone/>
            </a:pPr>
            <a:r>
              <a:rPr lang="en-IN" sz="1600" dirty="0"/>
              <a:t>Scikit-learn helps you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📊 </a:t>
            </a:r>
            <a:r>
              <a:rPr lang="en-IN" sz="1600" b="1" dirty="0"/>
              <a:t>Data preprocessing</a:t>
            </a:r>
            <a:r>
              <a:rPr lang="en-IN" sz="1600" dirty="0"/>
              <a:t> (cleaning, scaling, encoding)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🧠 </a:t>
            </a:r>
            <a:r>
              <a:rPr lang="en-IN" sz="1600" b="1" dirty="0"/>
              <a:t>Machine learning algorithms</a:t>
            </a:r>
            <a:r>
              <a:rPr lang="en-IN" sz="1600" dirty="0"/>
              <a:t> like:</a:t>
            </a:r>
          </a:p>
          <a:p>
            <a:pPr marL="395478" indent="-285750"/>
            <a:r>
              <a:rPr lang="en-IN" sz="1600" b="1" dirty="0"/>
              <a:t>Classification</a:t>
            </a:r>
            <a:r>
              <a:rPr lang="en-IN" sz="1600" dirty="0"/>
              <a:t> (e.g., spam detection) </a:t>
            </a:r>
          </a:p>
          <a:p>
            <a:pPr marL="395478" indent="-285750"/>
            <a:r>
              <a:rPr lang="en-IN" sz="1600" b="1" dirty="0"/>
              <a:t>Regression</a:t>
            </a:r>
            <a:r>
              <a:rPr lang="en-IN" sz="1600" dirty="0"/>
              <a:t> (e.g., predicting house prices)</a:t>
            </a:r>
          </a:p>
          <a:p>
            <a:pPr marL="395478" indent="-285750"/>
            <a:r>
              <a:rPr lang="en-IN" sz="1600" b="1" dirty="0"/>
              <a:t>Clustering</a:t>
            </a:r>
            <a:r>
              <a:rPr lang="en-IN" sz="1600" dirty="0"/>
              <a:t> (e.g., grouping customers)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✅ </a:t>
            </a:r>
            <a:r>
              <a:rPr lang="en-IN" sz="1600" b="1" dirty="0"/>
              <a:t>Model evaluation</a:t>
            </a:r>
            <a:r>
              <a:rPr lang="en-IN" sz="1600" dirty="0"/>
              <a:t> (accuracy, confusion matrix, cross-validation)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🔍 </a:t>
            </a:r>
            <a:r>
              <a:rPr lang="en-IN" sz="1600" b="1" dirty="0"/>
              <a:t>Model selection</a:t>
            </a:r>
            <a:r>
              <a:rPr lang="en-IN" sz="1600" dirty="0"/>
              <a:t> (grid search, tuning hyperparameters)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562" y="411163"/>
            <a:ext cx="8059548" cy="1645858"/>
          </a:xfrm>
        </p:spPr>
        <p:txBody>
          <a:bodyPr/>
          <a:lstStyle/>
          <a:p>
            <a:r>
              <a:rPr lang="en-IN" dirty="0"/>
              <a:t>TENSOR FLOW \PYTORCH-DEEP LEARNING</a:t>
            </a:r>
            <a:br>
              <a:rPr lang="en-IN" dirty="0"/>
            </a:b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1359017"/>
            <a:ext cx="3763963" cy="5087821"/>
          </a:xfrm>
        </p:spPr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🔥 </a:t>
            </a:r>
            <a:r>
              <a:rPr kumimoji="0" lang="en-US" altLang="en-US" sz="2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endParaRPr kumimoji="0" lang="en-US" altLang="en-US" sz="2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computation graph (eager execution)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feels more “pythonic” and intuitive.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 in research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faster prototyping and debugging.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 community support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lots of modern tutorials, models, and GitHub repos use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by companies like Facebook (Meta), Tesla, and others.</a:t>
            </a:r>
          </a:p>
          <a:p>
            <a:r>
              <a:rPr lang="en-US" sz="2500" dirty="0"/>
              <a:t>import torch</a:t>
            </a:r>
          </a:p>
          <a:p>
            <a:r>
              <a:rPr lang="en-US" sz="2500" dirty="0"/>
              <a:t>import </a:t>
            </a:r>
            <a:r>
              <a:rPr lang="en-US" sz="2500" dirty="0" err="1"/>
              <a:t>torch.nn</a:t>
            </a:r>
            <a:r>
              <a:rPr lang="en-US" sz="2500" dirty="0"/>
              <a:t> as </a:t>
            </a:r>
            <a:r>
              <a:rPr lang="en-US" sz="2500" dirty="0" err="1"/>
              <a:t>nn</a:t>
            </a:r>
            <a:endParaRPr lang="en-US" sz="2500" dirty="0"/>
          </a:p>
          <a:p>
            <a:endParaRPr lang="en-US" sz="2500" dirty="0"/>
          </a:p>
          <a:p>
            <a:r>
              <a:rPr lang="en-US" sz="2500" dirty="0"/>
              <a:t>class </a:t>
            </a:r>
            <a:r>
              <a:rPr lang="en-US" sz="2500" dirty="0" err="1"/>
              <a:t>SimpleModel</a:t>
            </a:r>
            <a:r>
              <a:rPr lang="en-US" sz="2500" dirty="0"/>
              <a:t>(</a:t>
            </a:r>
            <a:r>
              <a:rPr lang="en-US" sz="2500" dirty="0" err="1"/>
              <a:t>nn.Module</a:t>
            </a:r>
            <a:r>
              <a:rPr lang="en-US" sz="2500" dirty="0"/>
              <a:t>):</a:t>
            </a:r>
          </a:p>
          <a:p>
            <a:r>
              <a:rPr lang="en-US" sz="2500" dirty="0"/>
              <a:t>    def __</a:t>
            </a:r>
            <a:r>
              <a:rPr lang="en-US" sz="2500" dirty="0" err="1"/>
              <a:t>init</a:t>
            </a:r>
            <a:r>
              <a:rPr lang="en-US" sz="2500" dirty="0"/>
              <a:t>__(self):</a:t>
            </a:r>
          </a:p>
          <a:p>
            <a:r>
              <a:rPr lang="en-US" sz="2500" dirty="0"/>
              <a:t>        super().__</a:t>
            </a:r>
            <a:r>
              <a:rPr lang="en-US" sz="2500" dirty="0" err="1"/>
              <a:t>init</a:t>
            </a:r>
            <a:r>
              <a:rPr lang="en-US" sz="2500" dirty="0"/>
              <a:t>__()</a:t>
            </a:r>
          </a:p>
          <a:p>
            <a:r>
              <a:rPr lang="en-US" sz="2500" dirty="0"/>
              <a:t>        </a:t>
            </a:r>
            <a:r>
              <a:rPr lang="en-US" sz="2500" dirty="0" err="1"/>
              <a:t>self.linear</a:t>
            </a:r>
            <a:r>
              <a:rPr lang="en-US" sz="2500" dirty="0"/>
              <a:t> = </a:t>
            </a:r>
            <a:r>
              <a:rPr lang="en-US" sz="2500" dirty="0" err="1"/>
              <a:t>nn.Linear</a:t>
            </a:r>
            <a:r>
              <a:rPr lang="en-US" sz="2500" dirty="0"/>
              <a:t>(10, 1)</a:t>
            </a:r>
          </a:p>
          <a:p>
            <a:endParaRPr lang="en-US" sz="2500" dirty="0"/>
          </a:p>
          <a:p>
            <a:r>
              <a:rPr lang="en-US" sz="2500" dirty="0"/>
              <a:t>    def forward(self, x):</a:t>
            </a:r>
          </a:p>
          <a:p>
            <a:r>
              <a:rPr lang="en-US" sz="2500" dirty="0"/>
              <a:t>        return </a:t>
            </a:r>
            <a:r>
              <a:rPr lang="en-US" sz="2500" dirty="0" err="1"/>
              <a:t>self.linear</a:t>
            </a:r>
            <a:r>
              <a:rPr lang="en-US" sz="2500" dirty="0"/>
              <a:t>(x)</a:t>
            </a:r>
          </a:p>
          <a:p>
            <a:endParaRPr lang="en-US" sz="2500" dirty="0"/>
          </a:p>
          <a:p>
            <a:r>
              <a:rPr lang="en-US" sz="2500" dirty="0"/>
              <a:t>model = </a:t>
            </a:r>
            <a:r>
              <a:rPr lang="en-US" sz="2500" dirty="0" err="1"/>
              <a:t>SimpleModel</a:t>
            </a:r>
            <a:r>
              <a:rPr lang="en-US" sz="2500" dirty="0"/>
              <a:t>()</a:t>
            </a:r>
          </a:p>
          <a:p>
            <a:r>
              <a:rPr lang="en-US" sz="2500" dirty="0"/>
              <a:t>x = </a:t>
            </a:r>
            <a:r>
              <a:rPr lang="en-US" sz="2500" dirty="0" err="1"/>
              <a:t>torch.randn</a:t>
            </a:r>
            <a:r>
              <a:rPr lang="en-US" sz="2500" dirty="0"/>
              <a:t>(1, 10)</a:t>
            </a:r>
          </a:p>
          <a:p>
            <a:r>
              <a:rPr lang="en-US" sz="2500" dirty="0"/>
              <a:t>output = model(x)</a:t>
            </a:r>
          </a:p>
          <a:p>
            <a:r>
              <a:rPr lang="en-US" sz="2500" dirty="0"/>
              <a:t>print(output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94946B-42E8-47ED-243D-6E9551DAC625}"/>
              </a:ext>
            </a:extLst>
          </p:cNvPr>
          <p:cNvSpPr>
            <a:spLocks noGrp="1" noChangeArrowheads="1"/>
          </p:cNvSpPr>
          <p:nvPr>
            <p:ph sz="half" idx="15"/>
          </p:nvPr>
        </p:nvSpPr>
        <p:spPr bwMode="auto">
          <a:xfrm>
            <a:off x="41945" y="1517335"/>
            <a:ext cx="3763963" cy="615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⚙️ TensorFlow (2.x) /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and dynamic graphs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tf.function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(good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 deployment).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mature ecosystem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TFX, TensorFlow Lite,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for production at scale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Google loves it for end-to-end ML pipelines.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tf.keras.Sequential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([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tf.keras.layers.Dense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input_shape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=(10,))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tf.random.normal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((1, 10))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= model(x)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print(output)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C8DF5CD-395E-04AE-7E63-2329CFED1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89F4703-DE4E-F71E-2D56-9232AE73E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702D40F-94A5-E3D6-8F25-358ACF7D3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334" y="586259"/>
            <a:ext cx="418610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897" y="260060"/>
            <a:ext cx="7441166" cy="1031846"/>
          </a:xfrm>
        </p:spPr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💡OpenCV (Computer Vision)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5DEAC16-9626-0576-3AFC-6A2C16B3680D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914401" y="2568429"/>
            <a:ext cx="6333688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 Why We Need OpenCV (Computer Vision)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🧠 Automate Visual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humans looking at images or videos to detect objects, count items, or recognize faces—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OpenCV lets computers do it automatically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Security cameras that detect intruders, or smartphones that unlock with face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</a:rPr>
              <a:t>*KEY FEATURE:-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sz="2000" dirty="0"/>
              <a:t>🖼️ </a:t>
            </a:r>
            <a:r>
              <a:rPr lang="en-US" sz="2000" b="1" dirty="0"/>
              <a:t>Image and Video Processing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2000" b="1" dirty="0"/>
              <a:t>🎥 Real-Time Computer Vision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IN" sz="2000" dirty="0"/>
              <a:t>🧠 </a:t>
            </a:r>
            <a:r>
              <a:rPr lang="en-IN" sz="2000" b="1" dirty="0"/>
              <a:t>Object Detection &amp; Recognition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IN" sz="2000" dirty="0"/>
              <a:t>✂️ </a:t>
            </a:r>
            <a:r>
              <a:rPr lang="en-IN" sz="2000" b="1" dirty="0"/>
              <a:t>Image Segmentation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sz="2000" dirty="0"/>
              <a:t>🕵️‍♂️ </a:t>
            </a:r>
            <a:r>
              <a:rPr lang="en-US" sz="2000" b="1" dirty="0"/>
              <a:t>Feature Detection &amp; Matching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NLTK\ SPACY- NATURAL LANGUAGE PROCESSING (NPL) 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3793223" cy="3879359"/>
          </a:xfrm>
        </p:spPr>
        <p:txBody>
          <a:bodyPr/>
          <a:lstStyle/>
          <a:p>
            <a:pPr>
              <a:buNone/>
            </a:pPr>
            <a:r>
              <a:rPr lang="en-US" b="1" dirty="0"/>
              <a:t>🧠 What is NLP?</a:t>
            </a:r>
          </a:p>
          <a:p>
            <a:r>
              <a:rPr lang="en-US" b="1" dirty="0"/>
              <a:t>Natural Language Processing (NLP)</a:t>
            </a:r>
            <a:r>
              <a:rPr lang="en-US" dirty="0"/>
              <a:t> is a branch of AI that helps computers understand, interpret, and generate human language. It's used in things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Chatbots 🤖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Translation 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Sentiment analysis 😃😠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Voice assistants (like Siri, Alexa) 🎙️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Auto-correct / auto-suggest 📝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18158898"/>
              </p:ext>
            </p:extLst>
          </p:nvPr>
        </p:nvGraphicFramePr>
        <p:xfrm>
          <a:off x="5897461" y="2070057"/>
          <a:ext cx="6164888" cy="6309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64099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164099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18345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18345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32045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import </a:t>
                      </a:r>
                      <a:r>
                        <a:rPr lang="en-US" dirty="0" err="1">
                          <a:solidFill>
                            <a:schemeClr val="accent6"/>
                          </a:solidFill>
                        </a:rPr>
                        <a:t>nltk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  <a:p>
                      <a:r>
                        <a:rPr lang="en-US" dirty="0" err="1">
                          <a:solidFill>
                            <a:schemeClr val="accent6"/>
                          </a:solidFill>
                        </a:rPr>
                        <a:t>nltk.download</a:t>
                      </a:r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('</a:t>
                      </a:r>
                      <a:r>
                        <a:rPr lang="en-US" dirty="0" err="1">
                          <a:solidFill>
                            <a:schemeClr val="accent6"/>
                          </a:solidFill>
                        </a:rPr>
                        <a:t>punkt</a:t>
                      </a:r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')</a:t>
                      </a:r>
                    </a:p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from </a:t>
                      </a:r>
                      <a:r>
                        <a:rPr lang="en-US" dirty="0" err="1">
                          <a:solidFill>
                            <a:schemeClr val="accent6"/>
                          </a:solidFill>
                        </a:rPr>
                        <a:t>nltk.tokenize</a:t>
                      </a:r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 import </a:t>
                      </a:r>
                      <a:r>
                        <a:rPr lang="en-US" dirty="0" err="1">
                          <a:solidFill>
                            <a:schemeClr val="accent6"/>
                          </a:solidFill>
                        </a:rPr>
                        <a:t>word_tokenize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text = "Natural Language Processing with Python is fun!"</a:t>
                      </a:r>
                    </a:p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tokens = </a:t>
                      </a:r>
                      <a:r>
                        <a:rPr lang="en-US" dirty="0" err="1">
                          <a:solidFill>
                            <a:schemeClr val="accent6"/>
                          </a:solidFill>
                        </a:rPr>
                        <a:t>word_tokenize</a:t>
                      </a:r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(text)</a:t>
                      </a:r>
                    </a:p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print(tokens)</a:t>
                      </a:r>
                    </a:p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261595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261595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261595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261595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27504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D07B8-D394-BE7D-DD15-513CD98351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4558" y="2331791"/>
            <a:ext cx="5654180" cy="3867673"/>
          </a:xfrm>
        </p:spPr>
        <p:txBody>
          <a:bodyPr/>
          <a:lstStyle/>
          <a:p>
            <a:pPr>
              <a:buNone/>
            </a:pPr>
            <a:r>
              <a:rPr lang="en-US" b="1" dirty="0">
                <a:highlight>
                  <a:srgbClr val="00FFFF"/>
                </a:highlight>
              </a:rPr>
              <a:t>🔹 What is </a:t>
            </a:r>
            <a:r>
              <a:rPr lang="en-US" b="1" dirty="0" err="1">
                <a:highlight>
                  <a:srgbClr val="00FFFF"/>
                </a:highlight>
              </a:rPr>
              <a:t>Keras</a:t>
            </a:r>
            <a:r>
              <a:rPr lang="en-US" b="1" dirty="0">
                <a:highlight>
                  <a:srgbClr val="00FFFF"/>
                </a:highlight>
              </a:rPr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High-level API:</a:t>
            </a:r>
            <a:r>
              <a:rPr lang="en-US" dirty="0"/>
              <a:t> Abstracts away the complexity of lower-level frameworks like TensorFlow or Theano.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User-friendly:</a:t>
            </a:r>
            <a:r>
              <a:rPr lang="en-US" dirty="0"/>
              <a:t> Intuitive and easy to learn.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Modular:</a:t>
            </a:r>
            <a:r>
              <a:rPr lang="en-US" dirty="0"/>
              <a:t> Models are made by connecting building blocks like layers, optimizers, and activation functions.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Extensible:</a:t>
            </a:r>
            <a:r>
              <a:rPr lang="en-US" dirty="0"/>
              <a:t> Easy to write custom layers, metrics, and loss functions.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Backed by TensorFlow:</a:t>
            </a:r>
            <a:r>
              <a:rPr lang="en-US" dirty="0"/>
              <a:t> Since TensorFlow 2.x, </a:t>
            </a:r>
            <a:r>
              <a:rPr lang="en-US" dirty="0" err="1"/>
              <a:t>Keras</a:t>
            </a:r>
            <a:r>
              <a:rPr lang="en-US" dirty="0"/>
              <a:t> is the default high-level API.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A7DDF-39B6-80E8-FA42-3187470BE7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87736" y="2331791"/>
            <a:ext cx="5745311" cy="372181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highlight>
                  <a:srgbClr val="FF0000"/>
                </a:highlight>
              </a:rPr>
              <a:t>🔹 Core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Supports multiple types of models: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Sequential API:</a:t>
            </a:r>
            <a:r>
              <a:rPr lang="en-US" dirty="0"/>
              <a:t> For simple stack of layers.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Functional API:</a:t>
            </a:r>
            <a:r>
              <a:rPr lang="en-US" dirty="0"/>
              <a:t> For complex architectures (e.g., multi-input/output, shared layers).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Model subclassing:</a:t>
            </a:r>
            <a:r>
              <a:rPr lang="en-US" dirty="0"/>
              <a:t> Full flexibility for custom architectures.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Preprocessing tools:</a:t>
            </a:r>
            <a:r>
              <a:rPr lang="en-US" dirty="0"/>
              <a:t> Built-in tools for handling text, images, and sequences.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Pre-trained models:</a:t>
            </a:r>
            <a:r>
              <a:rPr lang="en-US" dirty="0"/>
              <a:t> Access to popular models like VGG, </a:t>
            </a:r>
            <a:r>
              <a:rPr lang="en-US" dirty="0" err="1"/>
              <a:t>ResNet</a:t>
            </a:r>
            <a:r>
              <a:rPr lang="en-US" dirty="0"/>
              <a:t>, etc. for transfer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Runs on CPU and GPU:</a:t>
            </a:r>
            <a:r>
              <a:rPr lang="en-US" dirty="0"/>
              <a:t> With minimal effort to switch between them.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877A7-38A9-7A90-AC2B-E01D7C3CAA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054D50A-9FEB-7CB1-D0D6-BD4F40CFA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50563" y="1318025"/>
            <a:ext cx="72607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</a:rPr>
              <a:t>KERAS HIGH LEVEL DEEP LEARNING API</a:t>
            </a:r>
          </a:p>
        </p:txBody>
      </p:sp>
    </p:spTree>
    <p:extLst>
      <p:ext uri="{BB962C8B-B14F-4D97-AF65-F5344CB8AC3E}">
        <p14:creationId xmlns:p14="http://schemas.microsoft.com/office/powerpoint/2010/main" val="2190353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8B975-9897-7EF1-1C10-BFB1BB4B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8AAFB-4CEB-14A5-11DA-1B0531A721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331958"/>
            <a:ext cx="5394121" cy="4798683"/>
          </a:xfrm>
        </p:spPr>
        <p:txBody>
          <a:bodyPr/>
          <a:lstStyle/>
          <a:p>
            <a:pPr>
              <a:buNone/>
            </a:pPr>
            <a:r>
              <a:rPr lang="en-US" b="1" dirty="0"/>
              <a:t>🔧 Why You Need Pillow for Image Processing:</a:t>
            </a:r>
          </a:p>
          <a:p>
            <a:pPr>
              <a:buNone/>
            </a:pPr>
            <a:r>
              <a:rPr lang="en-US" sz="800" b="1" dirty="0"/>
              <a:t>1. Ease of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Pillow provides a </a:t>
            </a:r>
            <a:r>
              <a:rPr lang="en-US" sz="800" b="1" dirty="0"/>
              <a:t>simple and Pythonic API</a:t>
            </a:r>
            <a:r>
              <a:rPr lang="en-US" sz="800" dirty="0"/>
              <a:t> for working with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It lets you open, manipulate, and save image files in many formats with just a few lines of code.</a:t>
            </a:r>
          </a:p>
          <a:p>
            <a:pPr>
              <a:buNone/>
            </a:pPr>
            <a:r>
              <a:rPr lang="en-US" sz="800" b="1" dirty="0"/>
              <a:t>2. Supports Many Formats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JPEG, PNG, BMP, GIF, TIFF, and more.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This makes it easy to work with virtually any kind of image.</a:t>
            </a:r>
          </a:p>
          <a:p>
            <a:pPr>
              <a:buNone/>
            </a:pPr>
            <a:r>
              <a:rPr lang="en-US" sz="800" b="1" dirty="0"/>
              <a:t>3. Basic Image Operations</a:t>
            </a:r>
          </a:p>
          <a:p>
            <a:pPr>
              <a:buNone/>
            </a:pPr>
            <a:r>
              <a:rPr lang="en-US" sz="800" dirty="0"/>
              <a:t>You can easily do things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Resize, crop, rotate, and flip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Convert between image modes (e.g., RGB to grayscale)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Apply filters (e.g., blur, sharpen)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Adjust brightness, contrast, and color balance</a:t>
            </a:r>
          </a:p>
          <a:p>
            <a:pPr>
              <a:buNone/>
            </a:pPr>
            <a:r>
              <a:rPr lang="en-US" sz="800" b="1" dirty="0"/>
              <a:t>4. Drawing Capabilities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Pillow allows you to draw shapes, text, or even custom graphics on images.</a:t>
            </a:r>
          </a:p>
          <a:p>
            <a:pPr>
              <a:buNone/>
            </a:pPr>
            <a:r>
              <a:rPr lang="en-US" sz="800" b="1" dirty="0"/>
              <a:t>5. Pixel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You can directly read or modify pixel values — useful for tasks like thresholding, color detection, or creating masks.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FC44D-0B24-5EC1-F866-04BDEF682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91076" y="2147582"/>
            <a:ext cx="5238924" cy="3112316"/>
          </a:xfrm>
        </p:spPr>
        <p:txBody>
          <a:bodyPr/>
          <a:lstStyle/>
          <a:p>
            <a:pPr>
              <a:buNone/>
            </a:pPr>
            <a:r>
              <a:rPr lang="en-US" b="1" dirty="0"/>
              <a:t>🧠 Real-World 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Creating thumbnails for a web 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Automating image watermarking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Preprocessing images for machine learning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Building a basic photo editor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E57E3-233F-D6CE-2243-241BB44140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919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243F7-728C-EC29-2BAB-F8EB35837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6797A-5F85-C821-2673-4CDE728205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" y="2331958"/>
            <a:ext cx="7399090" cy="4807073"/>
          </a:xfrm>
        </p:spPr>
        <p:txBody>
          <a:bodyPr/>
          <a:lstStyle/>
          <a:p>
            <a:pPr>
              <a:buNone/>
            </a:pPr>
            <a:r>
              <a:rPr lang="en-US" sz="1200" b="1" dirty="0"/>
              <a:t>🤖 TensorFlow: Deep Learning Framework</a:t>
            </a:r>
          </a:p>
          <a:p>
            <a:pPr>
              <a:buNone/>
            </a:pPr>
            <a:r>
              <a:rPr lang="en-US" sz="1200" b="1" dirty="0"/>
              <a:t>🧠 What is TensorFlow?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TensorFlow is an </a:t>
            </a:r>
            <a:r>
              <a:rPr lang="en-US" sz="1200" b="1" dirty="0"/>
              <a:t>open-source deep learning framework</a:t>
            </a:r>
            <a:r>
              <a:rPr lang="en-US" sz="1200" dirty="0"/>
              <a:t> developed by </a:t>
            </a:r>
            <a:r>
              <a:rPr lang="en-US" sz="1200" b="1" dirty="0"/>
              <a:t>Google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It allows you to </a:t>
            </a:r>
            <a:r>
              <a:rPr lang="en-US" sz="1200" b="1" dirty="0"/>
              <a:t>build and train machine learning models</a:t>
            </a:r>
            <a:r>
              <a:rPr lang="en-US" sz="1200" dirty="0"/>
              <a:t>, especially </a:t>
            </a:r>
            <a:r>
              <a:rPr lang="en-US" sz="1200" b="1" dirty="0"/>
              <a:t>neural networks</a:t>
            </a:r>
            <a:r>
              <a:rPr lang="en-US" sz="1200" dirty="0"/>
              <a:t>, efficiently and 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 scale.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Written in </a:t>
            </a:r>
            <a:r>
              <a:rPr lang="en-US" sz="1200" b="1" dirty="0"/>
              <a:t>Python</a:t>
            </a:r>
            <a:r>
              <a:rPr lang="en-US" sz="1200" dirty="0"/>
              <a:t>, with core parts in </a:t>
            </a:r>
            <a:r>
              <a:rPr lang="en-US" sz="1200" b="1" dirty="0"/>
              <a:t>C++</a:t>
            </a:r>
            <a:r>
              <a:rPr lang="en-US" sz="1200" dirty="0"/>
              <a:t> for speed.</a:t>
            </a:r>
          </a:p>
          <a:p>
            <a:pPr>
              <a:buNone/>
            </a:pPr>
            <a:r>
              <a:rPr lang="en-IN" sz="1200" b="1" dirty="0"/>
              <a:t>Why Use TensorFlow?</a:t>
            </a:r>
          </a:p>
          <a:p>
            <a:pPr>
              <a:buNone/>
            </a:pPr>
            <a:r>
              <a:rPr lang="en-IN" sz="1200" b="1" dirty="0"/>
              <a:t>1. Powerful for Deep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TensorFlow excels in building complex </a:t>
            </a:r>
            <a:r>
              <a:rPr lang="en-IN" sz="1200" b="1" dirty="0"/>
              <a:t>neural networks</a:t>
            </a:r>
            <a:r>
              <a:rPr lang="en-IN" sz="1200" dirty="0"/>
              <a:t> (like CNNs, RNNs, Transformers).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Ideal for tasks like image recognition, natural language processing, time-series forecasting, etc.</a:t>
            </a:r>
          </a:p>
          <a:p>
            <a:pPr>
              <a:buNone/>
            </a:pPr>
            <a:r>
              <a:rPr lang="en-IN" sz="1200" b="1" dirty="0"/>
              <a:t>2. Runs on CPU, GPU, TPU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Easily scales from local CPU to powerful </a:t>
            </a:r>
            <a:r>
              <a:rPr lang="en-IN" sz="1200" b="1" dirty="0"/>
              <a:t>GPUs or TPUs</a:t>
            </a:r>
            <a:r>
              <a:rPr lang="en-IN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Great for training large models faster.</a:t>
            </a:r>
          </a:p>
          <a:p>
            <a:pPr>
              <a:buNone/>
            </a:pPr>
            <a:r>
              <a:rPr lang="en-IN" sz="1200" b="1" dirty="0"/>
              <a:t>3. </a:t>
            </a:r>
            <a:r>
              <a:rPr lang="en-IN" sz="1200" b="1" dirty="0" err="1"/>
              <a:t>Keras</a:t>
            </a:r>
            <a:r>
              <a:rPr lang="en-IN" sz="1200" b="1" dirty="0"/>
              <a:t> API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Built-in </a:t>
            </a:r>
            <a:r>
              <a:rPr lang="en-IN" sz="1200" b="1" dirty="0" err="1"/>
              <a:t>Keras</a:t>
            </a:r>
            <a:r>
              <a:rPr lang="en-IN" sz="1200" dirty="0"/>
              <a:t> high-level API makes model building easier and more intuitive.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D539F-3A03-B2C5-243C-B276EC3411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21584" y="2230582"/>
            <a:ext cx="4488111" cy="427927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import </a:t>
            </a:r>
            <a:r>
              <a:rPr lang="en-IN" dirty="0" err="1"/>
              <a:t>tensorflow</a:t>
            </a:r>
            <a:r>
              <a:rPr lang="en-IN" dirty="0"/>
              <a:t> as </a:t>
            </a:r>
            <a:r>
              <a:rPr lang="en-IN" dirty="0" err="1"/>
              <a:t>tf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tensorflow.keras</a:t>
            </a:r>
            <a:r>
              <a:rPr lang="en-IN" dirty="0"/>
              <a:t> import layers, models</a:t>
            </a:r>
          </a:p>
          <a:p>
            <a:endParaRPr lang="en-IN" dirty="0"/>
          </a:p>
          <a:p>
            <a:r>
              <a:rPr lang="en-IN" dirty="0"/>
              <a:t>model = </a:t>
            </a:r>
            <a:r>
              <a:rPr lang="en-IN" dirty="0" err="1"/>
              <a:t>models.Sequential</a:t>
            </a:r>
            <a:r>
              <a:rPr lang="en-IN" dirty="0"/>
              <a:t>([</a:t>
            </a:r>
          </a:p>
          <a:p>
            <a:r>
              <a:rPr lang="en-IN" dirty="0"/>
              <a:t>    layers.Conv2D(32, (3,3), activation='</a:t>
            </a:r>
            <a:r>
              <a:rPr lang="en-IN" dirty="0" err="1"/>
              <a:t>relu</a:t>
            </a:r>
            <a:r>
              <a:rPr lang="en-IN" dirty="0"/>
              <a:t>', </a:t>
            </a:r>
            <a:r>
              <a:rPr lang="en-IN" dirty="0" err="1"/>
              <a:t>input_shape</a:t>
            </a:r>
            <a:r>
              <a:rPr lang="en-IN" dirty="0"/>
              <a:t>=(64, 64, 3)),</a:t>
            </a:r>
          </a:p>
          <a:p>
            <a:r>
              <a:rPr lang="en-IN" dirty="0"/>
              <a:t>    layers.MaxPooling2D(2, 2),</a:t>
            </a:r>
          </a:p>
          <a:p>
            <a:r>
              <a:rPr lang="en-IN" dirty="0"/>
              <a:t>    </a:t>
            </a:r>
            <a:r>
              <a:rPr lang="en-IN" dirty="0" err="1"/>
              <a:t>layers.Flatten</a:t>
            </a:r>
            <a:r>
              <a:rPr lang="en-IN" dirty="0"/>
              <a:t>(),</a:t>
            </a:r>
          </a:p>
          <a:p>
            <a:r>
              <a:rPr lang="en-IN" dirty="0"/>
              <a:t>    </a:t>
            </a:r>
            <a:r>
              <a:rPr lang="en-IN" dirty="0" err="1"/>
              <a:t>layers.Dense</a:t>
            </a:r>
            <a:r>
              <a:rPr lang="en-IN" dirty="0"/>
              <a:t>(128, activation='</a:t>
            </a:r>
            <a:r>
              <a:rPr lang="en-IN" dirty="0" err="1"/>
              <a:t>relu</a:t>
            </a:r>
            <a:r>
              <a:rPr lang="en-IN" dirty="0"/>
              <a:t>'),</a:t>
            </a:r>
          </a:p>
          <a:p>
            <a:r>
              <a:rPr lang="en-IN" dirty="0"/>
              <a:t>    </a:t>
            </a:r>
            <a:r>
              <a:rPr lang="en-IN" dirty="0" err="1"/>
              <a:t>layers.Dense</a:t>
            </a:r>
            <a:r>
              <a:rPr lang="en-IN" dirty="0"/>
              <a:t>(10, activation='</a:t>
            </a:r>
            <a:r>
              <a:rPr lang="en-IN" dirty="0" err="1"/>
              <a:t>softmax</a:t>
            </a:r>
            <a:r>
              <a:rPr lang="en-IN" dirty="0"/>
              <a:t>')</a:t>
            </a:r>
          </a:p>
          <a:p>
            <a:r>
              <a:rPr lang="en-IN" dirty="0"/>
              <a:t>])</a:t>
            </a:r>
          </a:p>
          <a:p>
            <a:r>
              <a:rPr lang="en-IN" dirty="0" err="1"/>
              <a:t>model.compile</a:t>
            </a:r>
            <a:r>
              <a:rPr lang="en-IN" dirty="0"/>
              <a:t>(optimizer='</a:t>
            </a:r>
            <a:r>
              <a:rPr lang="en-IN" dirty="0" err="1"/>
              <a:t>adam</a:t>
            </a:r>
            <a:r>
              <a:rPr lang="en-IN" dirty="0"/>
              <a:t>', loss='</a:t>
            </a:r>
            <a:r>
              <a:rPr lang="en-IN" dirty="0" err="1"/>
              <a:t>sparse_categorical_crossentropy</a:t>
            </a:r>
            <a:r>
              <a:rPr lang="en-IN" dirty="0"/>
              <a:t>', metrics=['accuracy'])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222CA-3B9C-4C25-50F4-AA101966C2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572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>
                <a:highlight>
                  <a:srgbClr val="FDFBF6"/>
                </a:highlight>
              </a:rPr>
              <a:t>Name</a:t>
            </a:r>
            <a:r>
              <a:rPr lang="en-US" dirty="0"/>
              <a:t>:</a:t>
            </a:r>
            <a:r>
              <a:rPr lang="en-US" dirty="0">
                <a:highlight>
                  <a:srgbClr val="FDFBF6"/>
                </a:highlight>
              </a:rPr>
              <a:t> keshav kumar</a:t>
            </a:r>
          </a:p>
          <a:p>
            <a:r>
              <a:rPr lang="en-US" dirty="0">
                <a:highlight>
                  <a:srgbClr val="FDFBF6"/>
                </a:highlight>
              </a:rPr>
              <a:t>Roll </a:t>
            </a:r>
            <a:r>
              <a:rPr lang="en-US" dirty="0"/>
              <a:t>no</a:t>
            </a:r>
            <a:r>
              <a:rPr lang="en-US" dirty="0">
                <a:highlight>
                  <a:srgbClr val="FDFBF6"/>
                </a:highlight>
              </a:rPr>
              <a:t> :21</a:t>
            </a:r>
          </a:p>
          <a:p>
            <a:r>
              <a:rPr lang="en-US" dirty="0" err="1">
                <a:highlight>
                  <a:srgbClr val="FDFBF6"/>
                </a:highlight>
              </a:rPr>
              <a:t>Enr</a:t>
            </a:r>
            <a:r>
              <a:rPr lang="en-US" dirty="0">
                <a:highlight>
                  <a:srgbClr val="FDFBF6"/>
                </a:highlight>
              </a:rPr>
              <a:t> no:2302030400043</a:t>
            </a:r>
          </a:p>
          <a:p>
            <a:r>
              <a:rPr lang="en-US" dirty="0">
                <a:highlight>
                  <a:srgbClr val="FDFBF6"/>
                </a:highlight>
              </a:rPr>
              <a:t>Sub: pp(assignment 3)</a:t>
            </a:r>
          </a:p>
          <a:p>
            <a:r>
              <a:rPr lang="en-US" dirty="0">
                <a:highlight>
                  <a:srgbClr val="FDFBF6"/>
                </a:highlight>
              </a:rPr>
              <a:t>Coordinator : </a:t>
            </a:r>
            <a:r>
              <a:rPr lang="en-US" dirty="0" err="1">
                <a:highlight>
                  <a:srgbClr val="FDFBF6"/>
                </a:highlight>
              </a:rPr>
              <a:t>monika</a:t>
            </a:r>
            <a:r>
              <a:rPr lang="en-US" dirty="0">
                <a:highlight>
                  <a:srgbClr val="FDFBF6"/>
                </a:highlight>
              </a:rPr>
              <a:t> </a:t>
            </a:r>
            <a:r>
              <a:rPr lang="en-US" dirty="0" err="1">
                <a:highlight>
                  <a:srgbClr val="FDFBF6"/>
                </a:highlight>
              </a:rPr>
              <a:t>chauhan</a:t>
            </a:r>
            <a:endParaRPr lang="en-US" dirty="0">
              <a:highlight>
                <a:srgbClr val="FDFBF6"/>
              </a:highlight>
            </a:endParaRPr>
          </a:p>
          <a:p>
            <a:endParaRPr lang="en-US" dirty="0">
              <a:solidFill>
                <a:srgbClr val="202C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{1377F92B-9A45-46C3-BD49-5FBDBDFA1B57}tf78438558_win32</Template>
  <TotalTime>117</TotalTime>
  <Words>1465</Words>
  <Application>Microsoft Office PowerPoint</Application>
  <PresentationFormat>Widescreen</PresentationFormat>
  <Paragraphs>183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Arial Unicode MS</vt:lpstr>
      <vt:lpstr>Calibri</vt:lpstr>
      <vt:lpstr>Sabon Next LT</vt:lpstr>
      <vt:lpstr>Custom</vt:lpstr>
      <vt:lpstr>Basic  presentation</vt:lpstr>
      <vt:lpstr>NUMERICAL COMPUTING IN PYTHON;</vt:lpstr>
      <vt:lpstr>PANDAS-DATA MANIPULATION IN PYTHON:- Pandas Great for data manipulation and analysis. Built on NumPy, optimized for working with tabular data (like spreadsheets or SQL tables).  import pandas as pd  df = pd.DataFrame({'A': [1, 2, 3], 'B': [4, 5, 6]}) mean_A = df['A'].mean()</vt:lpstr>
      <vt:lpstr>Matplotlib &amp; Seaborn </vt:lpstr>
      <vt:lpstr>SCIKIT-LEARN-MACHINE LEARNING;</vt:lpstr>
      <vt:lpstr>TENSOR FLOW \PYTORCH-DEEP LEARNING </vt:lpstr>
      <vt:lpstr>💡OpenCV (Computer Vision)</vt:lpstr>
      <vt:lpstr>NLTK\ SPACY- NATURAL LANGUAGE PROCESSING (NPL) </vt:lpstr>
      <vt:lpstr>KERAS HIGH LEVEL DEEP LEARNING API</vt:lpstr>
      <vt:lpstr>PowerPoint Presentation</vt:lpstr>
      <vt:lpstr>PowerPoint Presentation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keshav kumar</dc:creator>
  <cp:lastModifiedBy>keshav kumar</cp:lastModifiedBy>
  <cp:revision>1</cp:revision>
  <dcterms:created xsi:type="dcterms:W3CDTF">2025-04-14T06:20:40Z</dcterms:created>
  <dcterms:modified xsi:type="dcterms:W3CDTF">2025-04-14T08:18:12Z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